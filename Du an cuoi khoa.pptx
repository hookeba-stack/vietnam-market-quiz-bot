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96" r:id="rId2"/>
    <p:sldId id="317" r:id="rId3"/>
    <p:sldId id="310" r:id="rId4"/>
    <p:sldId id="311" r:id="rId5"/>
    <p:sldId id="312" r:id="rId6"/>
    <p:sldId id="313" r:id="rId7"/>
    <p:sldId id="314" r:id="rId8"/>
    <p:sldId id="315" r:id="rId9"/>
    <p:sldId id="316" r:id="rId10"/>
    <p:sldId id="30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23B18F-9993-45E4-BC3B-874C4DE3061F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C663F-92A8-4961-85E1-A0FCDC6A3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306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1950720"/>
            <a:ext cx="6339840" cy="633984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C4A35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97280" y="2364377"/>
            <a:ext cx="999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kern="0" spc="4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CUỐI KHÓA AI4A  ·  2026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072640"/>
            <a:ext cx="9997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1097280" y="2779776"/>
            <a:ext cx="999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067" b="1" dirty="0">
                <a:solidFill>
                  <a:srgbClr val="C4A35A"/>
                </a:solidFill>
                <a:latin typeface="Cambria" pitchFamily="34" charset="0"/>
                <a:ea typeface="Cambria" pitchFamily="34" charset="-122"/>
              </a:rPr>
              <a:t>DAILY QUIZ GENERATION</a:t>
            </a:r>
            <a:endParaRPr lang="en-US" sz="5067" dirty="0"/>
          </a:p>
        </p:txBody>
      </p:sp>
      <p:sp>
        <p:nvSpPr>
          <p:cNvPr id="6" name="Text 4"/>
          <p:cNvSpPr/>
          <p:nvPr/>
        </p:nvSpPr>
        <p:spPr>
          <a:xfrm>
            <a:off x="1097280" y="3474720"/>
            <a:ext cx="9997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kern="0" spc="1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TẠO QUIZ TỪ GOOGLE DRIVE → TELEGRAM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5547360"/>
            <a:ext cx="999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bày trước Hội đồng khảo thí  |  Học phần AI4A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5913120"/>
            <a:ext cx="999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Đoàn Ngọc Anh Khoa  ·  Lớp AI4A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" y="390144"/>
            <a:ext cx="390144" cy="390144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4A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55904" y="536448"/>
            <a:ext cx="97536" cy="97536"/>
          </a:xfrm>
          <a:prstGeom prst="ellipse">
            <a:avLst/>
          </a:prstGeom>
          <a:solidFill>
            <a:srgbClr val="C4A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21664" y="341376"/>
            <a:ext cx="26822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kern="0" spc="267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AI4A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21664" y="585216"/>
            <a:ext cx="268224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 kern="0" spc="2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CUỐI KHÓA</a:t>
            </a:r>
            <a:endParaRPr lang="en-US" sz="933" dirty="0"/>
          </a:p>
        </p:txBody>
      </p:sp>
    </p:spTree>
    <p:extLst>
      <p:ext uri="{BB962C8B-B14F-4D97-AF65-F5344CB8AC3E}">
        <p14:creationId xmlns:p14="http://schemas.microsoft.com/office/powerpoint/2010/main" val="1887691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90144"/>
            <a:ext cx="390144" cy="390144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0E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55904" y="536448"/>
            <a:ext cx="97536" cy="97536"/>
          </a:xfrm>
          <a:prstGeom prst="ellipse">
            <a:avLst/>
          </a:prstGeom>
          <a:solidFill>
            <a:srgbClr val="0E1E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1664" y="341376"/>
            <a:ext cx="26822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kern="0" spc="267" dirty="0">
                <a:solidFill>
                  <a:srgbClr val="0E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AI4A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1664" y="585216"/>
            <a:ext cx="268224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 kern="0" spc="200" dirty="0">
                <a:solidFill>
                  <a:srgbClr val="9C7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CUỐI KHÓA</a:t>
            </a:r>
            <a:endParaRPr lang="en-US" sz="933" dirty="0"/>
          </a:p>
        </p:txBody>
      </p:sp>
      <p:sp>
        <p:nvSpPr>
          <p:cNvPr id="6" name="Text 4"/>
          <p:cNvSpPr/>
          <p:nvPr/>
        </p:nvSpPr>
        <p:spPr>
          <a:xfrm>
            <a:off x="609600" y="950976"/>
            <a:ext cx="109728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kern="0" spc="267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609600" y="131673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33" b="1" dirty="0">
                <a:solidFill>
                  <a:srgbClr val="0E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Năm hạng mục đánh giá</a:t>
            </a:r>
            <a:endParaRPr lang="en-US" sz="3333" dirty="0"/>
          </a:p>
        </p:txBody>
      </p:sp>
      <p:sp>
        <p:nvSpPr>
          <p:cNvPr id="8" name="Text 6"/>
          <p:cNvSpPr/>
          <p:nvPr/>
        </p:nvSpPr>
        <p:spPr>
          <a:xfrm>
            <a:off x="609600" y="1987296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phân tích bài toán đến kiểm thử &amp; live demo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609600" y="2694432"/>
            <a:ext cx="5242560" cy="1036320"/>
          </a:xfrm>
          <a:prstGeom prst="rect">
            <a:avLst/>
          </a:prstGeom>
          <a:solidFill>
            <a:srgbClr val="F4F1E8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3440" y="2816352"/>
            <a:ext cx="8534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C4A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767840" y="2816352"/>
            <a:ext cx="38404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67" b="1" dirty="0">
                <a:solidFill>
                  <a:srgbClr val="0E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đề bài (SCOPE)</a:t>
            </a:r>
            <a:endParaRPr lang="en-US" sz="1667" dirty="0"/>
          </a:p>
        </p:txBody>
      </p:sp>
      <p:sp>
        <p:nvSpPr>
          <p:cNvPr id="12" name="Text 10"/>
          <p:cNvSpPr/>
          <p:nvPr/>
        </p:nvSpPr>
        <p:spPr>
          <a:xfrm>
            <a:off x="1767840" y="3206496"/>
            <a:ext cx="3840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phần: Situation, Constraints, Objectives, Process, Evaluation</a:t>
            </a:r>
            <a:endParaRPr lang="en-US" sz="1267" dirty="0"/>
          </a:p>
        </p:txBody>
      </p:sp>
      <p:sp>
        <p:nvSpPr>
          <p:cNvPr id="13" name="Shape 11"/>
          <p:cNvSpPr/>
          <p:nvPr/>
        </p:nvSpPr>
        <p:spPr>
          <a:xfrm>
            <a:off x="6035040" y="2694432"/>
            <a:ext cx="5242560" cy="1036320"/>
          </a:xfrm>
          <a:prstGeom prst="rect">
            <a:avLst/>
          </a:prstGeom>
          <a:solidFill>
            <a:srgbClr val="F4F1E8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78880" y="2816352"/>
            <a:ext cx="8534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C4A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193280" y="2816352"/>
            <a:ext cx="38404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67" b="1" dirty="0">
                <a:solidFill>
                  <a:srgbClr val="0E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hệ thống (7 thành tố)</a:t>
            </a:r>
            <a:endParaRPr lang="en-US" sz="1667" dirty="0"/>
          </a:p>
        </p:txBody>
      </p:sp>
      <p:sp>
        <p:nvSpPr>
          <p:cNvPr id="16" name="Text 14"/>
          <p:cNvSpPr/>
          <p:nvPr/>
        </p:nvSpPr>
        <p:spPr>
          <a:xfrm>
            <a:off x="7193280" y="3206496"/>
            <a:ext cx="3840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Workspace &amp; kiến trúc 3 tầng</a:t>
            </a:r>
            <a:endParaRPr lang="en-US" sz="1267" dirty="0"/>
          </a:p>
        </p:txBody>
      </p:sp>
      <p:sp>
        <p:nvSpPr>
          <p:cNvPr id="17" name="Shape 15"/>
          <p:cNvSpPr/>
          <p:nvPr/>
        </p:nvSpPr>
        <p:spPr>
          <a:xfrm>
            <a:off x="609600" y="3950208"/>
            <a:ext cx="5242560" cy="1036320"/>
          </a:xfrm>
          <a:prstGeom prst="rect">
            <a:avLst/>
          </a:prstGeom>
          <a:solidFill>
            <a:srgbClr val="F4F1E8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3440" y="4072128"/>
            <a:ext cx="8534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C4A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767840" y="4072128"/>
            <a:ext cx="38404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67" b="1" dirty="0">
                <a:solidFill>
                  <a:srgbClr val="0E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Agent &amp; Workflow</a:t>
            </a:r>
            <a:endParaRPr lang="en-US" sz="1667" dirty="0"/>
          </a:p>
        </p:txBody>
      </p:sp>
      <p:sp>
        <p:nvSpPr>
          <p:cNvPr id="20" name="Text 18"/>
          <p:cNvSpPr/>
          <p:nvPr/>
        </p:nvSpPr>
        <p:spPr>
          <a:xfrm>
            <a:off x="1767840" y="4462272"/>
            <a:ext cx="3840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Khung MICRO và luồng tự động hóa theo tư duy OIPO</a:t>
            </a:r>
            <a:endParaRPr lang="en-US" sz="1267" dirty="0"/>
          </a:p>
        </p:txBody>
      </p:sp>
      <p:sp>
        <p:nvSpPr>
          <p:cNvPr id="21" name="Shape 19"/>
          <p:cNvSpPr/>
          <p:nvPr/>
        </p:nvSpPr>
        <p:spPr>
          <a:xfrm>
            <a:off x="6035040" y="3950208"/>
            <a:ext cx="5242560" cy="1036320"/>
          </a:xfrm>
          <a:prstGeom prst="rect">
            <a:avLst/>
          </a:prstGeom>
          <a:solidFill>
            <a:srgbClr val="F4F1E8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78880" y="4072128"/>
            <a:ext cx="8534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C4A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193280" y="4072128"/>
            <a:ext cx="38404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67" b="1" dirty="0">
                <a:solidFill>
                  <a:srgbClr val="0E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thức &amp; Quy tắc vận hành</a:t>
            </a:r>
            <a:endParaRPr lang="en-US" sz="1667" dirty="0"/>
          </a:p>
        </p:txBody>
      </p:sp>
      <p:sp>
        <p:nvSpPr>
          <p:cNvPr id="24" name="Text 22"/>
          <p:cNvSpPr/>
          <p:nvPr/>
        </p:nvSpPr>
        <p:spPr>
          <a:xfrm>
            <a:off x="7193280" y="4462272"/>
            <a:ext cx="3840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Base, quy tắc CLEAR, Handoff &amp; Human Checkpoint</a:t>
            </a:r>
            <a:endParaRPr lang="en-US" sz="1267" dirty="0"/>
          </a:p>
        </p:txBody>
      </p:sp>
      <p:sp>
        <p:nvSpPr>
          <p:cNvPr id="25" name="Shape 23"/>
          <p:cNvSpPr/>
          <p:nvPr/>
        </p:nvSpPr>
        <p:spPr>
          <a:xfrm>
            <a:off x="609600" y="5205984"/>
            <a:ext cx="5242560" cy="1036320"/>
          </a:xfrm>
          <a:prstGeom prst="rect">
            <a:avLst/>
          </a:prstGeom>
          <a:solidFill>
            <a:srgbClr val="F4F1E8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53440" y="5327904"/>
            <a:ext cx="8534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C4A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1767840" y="5327904"/>
            <a:ext cx="38404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67" b="1" dirty="0">
                <a:solidFill>
                  <a:srgbClr val="0E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&amp; Live Demo</a:t>
            </a:r>
            <a:endParaRPr lang="en-US" sz="1667" dirty="0"/>
          </a:p>
        </p:txBody>
      </p:sp>
      <p:sp>
        <p:nvSpPr>
          <p:cNvPr id="28" name="Text 26"/>
          <p:cNvSpPr/>
          <p:nvPr/>
        </p:nvSpPr>
        <p:spPr>
          <a:xfrm>
            <a:off x="1767840" y="5718048"/>
            <a:ext cx="3840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Chẩn đoán /audit và demo trên Antigravity</a:t>
            </a:r>
            <a:endParaRPr lang="en-US" sz="1267" dirty="0"/>
          </a:p>
        </p:txBody>
      </p:sp>
      <p:sp>
        <p:nvSpPr>
          <p:cNvPr id="33" name="Text 31"/>
          <p:cNvSpPr/>
          <p:nvPr/>
        </p:nvSpPr>
        <p:spPr>
          <a:xfrm>
            <a:off x="609600" y="6443472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cuối khóa AI4A  ·  Daily Quiz Generation</a:t>
            </a:r>
            <a:endParaRPr lang="en-US" sz="1067" dirty="0"/>
          </a:p>
        </p:txBody>
      </p:sp>
      <p:sp>
        <p:nvSpPr>
          <p:cNvPr id="34" name="Text 32"/>
          <p:cNvSpPr/>
          <p:nvPr/>
        </p:nvSpPr>
        <p:spPr>
          <a:xfrm>
            <a:off x="10972800" y="6443472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67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67" dirty="0"/>
          </a:p>
        </p:txBody>
      </p:sp>
    </p:spTree>
    <p:extLst>
      <p:ext uri="{BB962C8B-B14F-4D97-AF65-F5344CB8AC3E}">
        <p14:creationId xmlns:p14="http://schemas.microsoft.com/office/powerpoint/2010/main" val="2153977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90144"/>
            <a:ext cx="390144" cy="390144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0E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55904" y="536448"/>
            <a:ext cx="97536" cy="97536"/>
          </a:xfrm>
          <a:prstGeom prst="ellipse">
            <a:avLst/>
          </a:prstGeom>
          <a:solidFill>
            <a:srgbClr val="0E1E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1664" y="341376"/>
            <a:ext cx="26822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kern="0" spc="267" dirty="0">
                <a:solidFill>
                  <a:srgbClr val="0E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AI4A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1664" y="585216"/>
            <a:ext cx="268224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 kern="0" spc="200" dirty="0">
                <a:solidFill>
                  <a:srgbClr val="9C7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CUỐI KHÓA</a:t>
            </a:r>
            <a:endParaRPr lang="en-US" sz="933" dirty="0"/>
          </a:p>
        </p:txBody>
      </p:sp>
      <p:sp>
        <p:nvSpPr>
          <p:cNvPr id="6" name="Text 4"/>
          <p:cNvSpPr/>
          <p:nvPr/>
        </p:nvSpPr>
        <p:spPr>
          <a:xfrm>
            <a:off x="609600" y="950976"/>
            <a:ext cx="109728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kern="0" spc="267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&amp; BÀI TOÁN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609600" y="131673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33" b="1" dirty="0">
                <a:solidFill>
                  <a:srgbClr val="0E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Bốn con số nói lên vấn đề</a:t>
            </a:r>
            <a:endParaRPr lang="en-US" sz="3333" dirty="0"/>
          </a:p>
        </p:txBody>
      </p:sp>
      <p:sp>
        <p:nvSpPr>
          <p:cNvPr id="8" name="Text 6"/>
          <p:cNvSpPr/>
          <p:nvPr/>
        </p:nvSpPr>
        <p:spPr>
          <a:xfrm>
            <a:off x="609600" y="1987296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liệu minh họa cho kho tài liệu marketing trên Google Drive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609600" y="2694432"/>
            <a:ext cx="2499360" cy="1889760"/>
          </a:xfrm>
          <a:prstGeom prst="rect">
            <a:avLst/>
          </a:prstGeom>
          <a:solidFill>
            <a:srgbClr val="0E1E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2480" y="2913888"/>
            <a:ext cx="2133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933" b="1" dirty="0">
                <a:solidFill>
                  <a:srgbClr val="C4A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2933" dirty="0"/>
          </a:p>
        </p:txBody>
      </p:sp>
      <p:sp>
        <p:nvSpPr>
          <p:cNvPr id="11" name="Text 9"/>
          <p:cNvSpPr/>
          <p:nvPr/>
        </p:nvSpPr>
        <p:spPr>
          <a:xfrm>
            <a:off x="792480" y="3608832"/>
            <a:ext cx="213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trên Drive (≥20, cập nhật theo thời gian thực) làm nguồn sinh câu hỏi</a:t>
            </a:r>
            <a:endParaRPr lang="en-US" sz="1267" dirty="0"/>
          </a:p>
        </p:txBody>
      </p:sp>
      <p:sp>
        <p:nvSpPr>
          <p:cNvPr id="12" name="Shape 10"/>
          <p:cNvSpPr/>
          <p:nvPr/>
        </p:nvSpPr>
        <p:spPr>
          <a:xfrm>
            <a:off x="3328416" y="2694432"/>
            <a:ext cx="2499360" cy="1889760"/>
          </a:xfrm>
          <a:prstGeom prst="rect">
            <a:avLst/>
          </a:prstGeom>
          <a:solidFill>
            <a:srgbClr val="0E1E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11296" y="2913888"/>
            <a:ext cx="2133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933" b="1" dirty="0">
                <a:solidFill>
                  <a:srgbClr val="C4A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câu</a:t>
            </a:r>
            <a:endParaRPr lang="en-US" sz="2933" dirty="0"/>
          </a:p>
        </p:txBody>
      </p:sp>
      <p:sp>
        <p:nvSpPr>
          <p:cNvPr id="14" name="Text 12"/>
          <p:cNvSpPr/>
          <p:nvPr/>
        </p:nvSpPr>
        <p:spPr>
          <a:xfrm>
            <a:off x="3511296" y="3608832"/>
            <a:ext cx="213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tự động tạo &amp; gửi qua Telegram mỗi ngày</a:t>
            </a:r>
            <a:endParaRPr lang="en-US" sz="1267" dirty="0"/>
          </a:p>
        </p:txBody>
      </p:sp>
      <p:sp>
        <p:nvSpPr>
          <p:cNvPr id="15" name="Shape 13"/>
          <p:cNvSpPr/>
          <p:nvPr/>
        </p:nvSpPr>
        <p:spPr>
          <a:xfrm>
            <a:off x="6047232" y="2694432"/>
            <a:ext cx="2499360" cy="1889760"/>
          </a:xfrm>
          <a:prstGeom prst="rect">
            <a:avLst/>
          </a:prstGeom>
          <a:solidFill>
            <a:srgbClr val="0E1E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30112" y="2913888"/>
            <a:ext cx="2133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933" b="1" dirty="0">
                <a:solidFill>
                  <a:srgbClr val="C4A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trùng</a:t>
            </a:r>
            <a:endParaRPr lang="en-US" sz="2933" dirty="0"/>
          </a:p>
        </p:txBody>
      </p:sp>
      <p:sp>
        <p:nvSpPr>
          <p:cNvPr id="17" name="Text 15"/>
          <p:cNvSpPr/>
          <p:nvPr/>
        </p:nvSpPr>
        <p:spPr>
          <a:xfrm>
            <a:off x="6230112" y="3608832"/>
            <a:ext cx="213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không lặp lại nhờ ngân hàng lịch sử &amp; cơ chế kiểm trùng</a:t>
            </a:r>
            <a:endParaRPr lang="en-US" sz="1267" dirty="0"/>
          </a:p>
        </p:txBody>
      </p:sp>
      <p:sp>
        <p:nvSpPr>
          <p:cNvPr id="18" name="Shape 16"/>
          <p:cNvSpPr/>
          <p:nvPr/>
        </p:nvSpPr>
        <p:spPr>
          <a:xfrm>
            <a:off x="8766048" y="2694432"/>
            <a:ext cx="2499360" cy="1889760"/>
          </a:xfrm>
          <a:prstGeom prst="rect">
            <a:avLst/>
          </a:prstGeom>
          <a:solidFill>
            <a:srgbClr val="0E1E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948928" y="2913888"/>
            <a:ext cx="2133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933" b="1" dirty="0">
                <a:solidFill>
                  <a:srgbClr val="C4A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mốc/ngày</a:t>
            </a:r>
            <a:endParaRPr lang="en-US" sz="2933" dirty="0"/>
          </a:p>
        </p:txBody>
      </p:sp>
      <p:sp>
        <p:nvSpPr>
          <p:cNvPr id="20" name="Text 18"/>
          <p:cNvSpPr/>
          <p:nvPr/>
        </p:nvSpPr>
        <p:spPr>
          <a:xfrm>
            <a:off x="8948928" y="3608832"/>
            <a:ext cx="213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7h sáng · 12h trưa · 5h chiều, chạy trên cloud — không cần bật máy</a:t>
            </a:r>
            <a:endParaRPr lang="en-US" sz="1267" dirty="0"/>
          </a:p>
        </p:txBody>
      </p:sp>
      <p:sp>
        <p:nvSpPr>
          <p:cNvPr id="21" name="Text 19"/>
          <p:cNvSpPr/>
          <p:nvPr/>
        </p:nvSpPr>
        <p:spPr>
          <a:xfrm>
            <a:off x="609600" y="4949952"/>
            <a:ext cx="10972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sz="1667" dirty="0">
                <a:solidFill>
                  <a:srgbClr val="0E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có kho tài liệu marketing/báo cáo thị trường trên Google Drive nhưng khó duy trì thói quen ôn tập đều đặn mỗi ngày.</a:t>
            </a:r>
            <a:endParaRPr lang="en-US" sz="1667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67" dirty="0">
                <a:solidFill>
                  <a:srgbClr val="0E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xây dựng Agentic Workspace chạy hoàn toàn tự động trên cloud (không cần bật laptop hay Antigravity): tự đọc tài liệu, sinh quiz không trùng lặp và gửi Telegram 3 lần/ngày.</a:t>
            </a:r>
            <a:endParaRPr lang="en-US" sz="1667" dirty="0"/>
          </a:p>
        </p:txBody>
      </p:sp>
      <p:sp>
        <p:nvSpPr>
          <p:cNvPr id="22" name="Text 20"/>
          <p:cNvSpPr/>
          <p:nvPr/>
        </p:nvSpPr>
        <p:spPr>
          <a:xfrm>
            <a:off x="609600" y="6443472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cuối khóa AI4A  ·  Daily Quiz Generation</a:t>
            </a:r>
            <a:endParaRPr lang="en-US" sz="1067" dirty="0"/>
          </a:p>
        </p:txBody>
      </p:sp>
      <p:sp>
        <p:nvSpPr>
          <p:cNvPr id="23" name="Text 21"/>
          <p:cNvSpPr/>
          <p:nvPr/>
        </p:nvSpPr>
        <p:spPr>
          <a:xfrm>
            <a:off x="10972800" y="6443472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67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67" dirty="0"/>
          </a:p>
        </p:txBody>
      </p:sp>
    </p:spTree>
    <p:extLst>
      <p:ext uri="{BB962C8B-B14F-4D97-AF65-F5344CB8AC3E}">
        <p14:creationId xmlns:p14="http://schemas.microsoft.com/office/powerpoint/2010/main" val="3293506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90144"/>
            <a:ext cx="390144" cy="390144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0E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55904" y="536448"/>
            <a:ext cx="97536" cy="97536"/>
          </a:xfrm>
          <a:prstGeom prst="ellipse">
            <a:avLst/>
          </a:prstGeom>
          <a:solidFill>
            <a:srgbClr val="0E1E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1664" y="341376"/>
            <a:ext cx="26822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kern="0" spc="267" dirty="0">
                <a:solidFill>
                  <a:srgbClr val="0E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AI4A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1664" y="585216"/>
            <a:ext cx="268224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 kern="0" spc="200" dirty="0">
                <a:solidFill>
                  <a:srgbClr val="9C7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CUỐI KHÓA</a:t>
            </a:r>
            <a:endParaRPr lang="en-US" sz="933" dirty="0"/>
          </a:p>
        </p:txBody>
      </p:sp>
      <p:sp>
        <p:nvSpPr>
          <p:cNvPr id="6" name="Text 4"/>
          <p:cNvSpPr/>
          <p:nvPr/>
        </p:nvSpPr>
        <p:spPr>
          <a:xfrm>
            <a:off x="609600" y="950976"/>
            <a:ext cx="109728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kern="0" spc="267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ĐỀ BÀI (SCOPE)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609600" y="131673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33" b="1" dirty="0">
                <a:solidFill>
                  <a:srgbClr val="0E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Tài liệu SCOPE — 5 thành phần</a:t>
            </a:r>
            <a:endParaRPr lang="en-US" sz="3333" dirty="0"/>
          </a:p>
        </p:txBody>
      </p:sp>
      <p:sp>
        <p:nvSpPr>
          <p:cNvPr id="8" name="Text 6"/>
          <p:cNvSpPr/>
          <p:nvPr/>
        </p:nvSpPr>
        <p:spPr>
          <a:xfrm>
            <a:off x="609600" y="1987296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rõ bài toán kinh doanh trước khi thiết kế hệ thống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609600" y="2694432"/>
            <a:ext cx="2121408" cy="3169920"/>
          </a:xfrm>
          <a:prstGeom prst="rect">
            <a:avLst/>
          </a:prstGeom>
          <a:solidFill>
            <a:srgbClr val="0E1E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5904" y="2840736"/>
            <a:ext cx="731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67" b="1" dirty="0">
                <a:solidFill>
                  <a:srgbClr val="C4A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67" dirty="0"/>
          </a:p>
        </p:txBody>
      </p:sp>
      <p:sp>
        <p:nvSpPr>
          <p:cNvPr id="11" name="Text 9"/>
          <p:cNvSpPr/>
          <p:nvPr/>
        </p:nvSpPr>
        <p:spPr>
          <a:xfrm>
            <a:off x="780288" y="3486912"/>
            <a:ext cx="17800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(Bối cảnh): Folder Google Drive (≥20 tài liệu, cập nhật theo thời gian thực) chứa báo cáo thị trường &amp; marketing; cần ôn mỗi ngày nhưng không có thời gian đọc lại.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52928" y="2694432"/>
            <a:ext cx="2121408" cy="3169920"/>
          </a:xfrm>
          <a:prstGeom prst="rect">
            <a:avLst/>
          </a:prstGeom>
          <a:solidFill>
            <a:srgbClr val="0E1E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99232" y="2840736"/>
            <a:ext cx="731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67" b="1" dirty="0">
                <a:solidFill>
                  <a:srgbClr val="C4A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67" dirty="0"/>
          </a:p>
        </p:txBody>
      </p:sp>
      <p:sp>
        <p:nvSpPr>
          <p:cNvPr id="14" name="Text 12"/>
          <p:cNvSpPr/>
          <p:nvPr/>
        </p:nvSpPr>
        <p:spPr>
          <a:xfrm>
            <a:off x="3023616" y="3486912"/>
            <a:ext cx="17800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(Rào cản): Tài liệu đa định dạng (PDF, ảnh cần OCR); không trùng câu; phải chạy tự động trên cloud, không cần bật laptop hay Antigravity.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96256" y="2694432"/>
            <a:ext cx="2121408" cy="3169920"/>
          </a:xfrm>
          <a:prstGeom prst="rect">
            <a:avLst/>
          </a:prstGeom>
          <a:solidFill>
            <a:srgbClr val="0E1E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42560" y="2840736"/>
            <a:ext cx="731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67" b="1" dirty="0">
                <a:solidFill>
                  <a:srgbClr val="C4A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67" dirty="0"/>
          </a:p>
        </p:txBody>
      </p:sp>
      <p:sp>
        <p:nvSpPr>
          <p:cNvPr id="17" name="Text 15"/>
          <p:cNvSpPr/>
          <p:nvPr/>
        </p:nvSpPr>
        <p:spPr>
          <a:xfrm>
            <a:off x="5266944" y="3486912"/>
            <a:ext cx="17800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(Mục tiêu): Mỗi ngày tự sinh 10 câu bám tài liệu, không trùng lặp, gửi Telegram vào 7h – 12h – 17h.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39584" y="2694432"/>
            <a:ext cx="2121408" cy="3169920"/>
          </a:xfrm>
          <a:prstGeom prst="rect">
            <a:avLst/>
          </a:prstGeom>
          <a:solidFill>
            <a:srgbClr val="0E1E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85888" y="2840736"/>
            <a:ext cx="731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67" b="1" dirty="0">
                <a:solidFill>
                  <a:srgbClr val="C4A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67" dirty="0"/>
          </a:p>
        </p:txBody>
      </p:sp>
      <p:sp>
        <p:nvSpPr>
          <p:cNvPr id="20" name="Text 18"/>
          <p:cNvSpPr/>
          <p:nvPr/>
        </p:nvSpPr>
        <p:spPr>
          <a:xfrm>
            <a:off x="7510272" y="3486912"/>
            <a:ext cx="17800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(Tiến trình): Đọc tài liệu Drive → trích xuất nội dung → sinh câu hỏi → kiểm trùng → duyệt → gửi Telegram → lưu lịch sử.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582912" y="2694432"/>
            <a:ext cx="2121408" cy="3169920"/>
          </a:xfrm>
          <a:prstGeom prst="rect">
            <a:avLst/>
          </a:prstGeom>
          <a:solidFill>
            <a:srgbClr val="0E1E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729216" y="2840736"/>
            <a:ext cx="731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67" b="1" dirty="0">
                <a:solidFill>
                  <a:srgbClr val="C4A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67" dirty="0"/>
          </a:p>
        </p:txBody>
      </p:sp>
      <p:sp>
        <p:nvSpPr>
          <p:cNvPr id="23" name="Text 21"/>
          <p:cNvSpPr/>
          <p:nvPr/>
        </p:nvSpPr>
        <p:spPr>
          <a:xfrm>
            <a:off x="9753600" y="3486912"/>
            <a:ext cx="17800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(Đánh giá): Đo bằng số ngày gửi thành công, tỷ lệ câu hợp lệ/không trùng, độ phủ tài liệu và phản hồi người dùng.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9600" y="60838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là nền tảng để thiết kế hệ thống Agent ở các phần tiếp theo.</a:t>
            </a:r>
            <a:endParaRPr lang="en-US" sz="1467" dirty="0"/>
          </a:p>
        </p:txBody>
      </p:sp>
      <p:sp>
        <p:nvSpPr>
          <p:cNvPr id="25" name="Text 23"/>
          <p:cNvSpPr/>
          <p:nvPr/>
        </p:nvSpPr>
        <p:spPr>
          <a:xfrm>
            <a:off x="609600" y="6443472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cuối khóa AI4A  ·  Daily Quiz Generation</a:t>
            </a:r>
            <a:endParaRPr lang="en-US" sz="1067" dirty="0"/>
          </a:p>
        </p:txBody>
      </p:sp>
      <p:sp>
        <p:nvSpPr>
          <p:cNvPr id="26" name="Text 24"/>
          <p:cNvSpPr/>
          <p:nvPr/>
        </p:nvSpPr>
        <p:spPr>
          <a:xfrm>
            <a:off x="10972800" y="6443472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67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67" dirty="0"/>
          </a:p>
        </p:txBody>
      </p:sp>
    </p:spTree>
    <p:extLst>
      <p:ext uri="{BB962C8B-B14F-4D97-AF65-F5344CB8AC3E}">
        <p14:creationId xmlns:p14="http://schemas.microsoft.com/office/powerpoint/2010/main" val="2061306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90144"/>
            <a:ext cx="390144" cy="390144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0E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55904" y="536448"/>
            <a:ext cx="97536" cy="97536"/>
          </a:xfrm>
          <a:prstGeom prst="ellipse">
            <a:avLst/>
          </a:prstGeom>
          <a:solidFill>
            <a:srgbClr val="0E1E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1664" y="341376"/>
            <a:ext cx="26822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kern="0" spc="267" dirty="0">
                <a:solidFill>
                  <a:srgbClr val="0E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AI4A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1664" y="585216"/>
            <a:ext cx="268224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 kern="0" spc="200" dirty="0">
                <a:solidFill>
                  <a:srgbClr val="9C7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CUỐI KHÓA</a:t>
            </a:r>
            <a:endParaRPr lang="en-US" sz="933" dirty="0"/>
          </a:p>
        </p:txBody>
      </p:sp>
      <p:sp>
        <p:nvSpPr>
          <p:cNvPr id="6" name="Text 4"/>
          <p:cNvSpPr/>
          <p:nvPr/>
        </p:nvSpPr>
        <p:spPr>
          <a:xfrm>
            <a:off x="609600" y="950976"/>
            <a:ext cx="109728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kern="0" spc="267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HỆ THỐNG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609600" y="131673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33" b="1" dirty="0">
                <a:solidFill>
                  <a:srgbClr val="0E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Workspace — 7 thành tố cốt lõi</a:t>
            </a:r>
            <a:endParaRPr lang="en-US" sz="3333" dirty="0"/>
          </a:p>
        </p:txBody>
      </p:sp>
      <p:sp>
        <p:nvSpPr>
          <p:cNvPr id="8" name="Text 6"/>
          <p:cNvSpPr/>
          <p:nvPr/>
        </p:nvSpPr>
        <p:spPr>
          <a:xfrm>
            <a:off x="609600" y="1987296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bao phủ đủ 7 thành tố, gom theo 4 nhóm chức năng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609600" y="2694432"/>
            <a:ext cx="3086317" cy="390144"/>
          </a:xfrm>
          <a:prstGeom prst="rect">
            <a:avLst/>
          </a:prstGeom>
          <a:solidFill>
            <a:srgbClr val="F4F1E8"/>
          </a:solidFill>
          <a:ln w="9525">
            <a:solidFill>
              <a:srgbClr val="DCD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9600" y="2694432"/>
            <a:ext cx="3086317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0E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VÀO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44686" y="2694432"/>
            <a:ext cx="1518775" cy="390144"/>
          </a:xfrm>
          <a:prstGeom prst="rect">
            <a:avLst/>
          </a:prstGeom>
          <a:solidFill>
            <a:srgbClr val="F4F1E8"/>
          </a:solidFill>
          <a:ln w="9525">
            <a:solidFill>
              <a:srgbClr val="DCD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44686" y="2694432"/>
            <a:ext cx="1518775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0E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12229" y="2694432"/>
            <a:ext cx="1518775" cy="390144"/>
          </a:xfrm>
          <a:prstGeom prst="rect">
            <a:avLst/>
          </a:prstGeom>
          <a:solidFill>
            <a:srgbClr val="F4F1E8"/>
          </a:solidFill>
          <a:ln w="9525">
            <a:solidFill>
              <a:srgbClr val="DCD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12229" y="2694432"/>
            <a:ext cx="1518775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0E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THỨC &amp; KỸ NĂNG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79773" y="2694432"/>
            <a:ext cx="4653860" cy="390144"/>
          </a:xfrm>
          <a:prstGeom prst="rect">
            <a:avLst/>
          </a:prstGeom>
          <a:solidFill>
            <a:srgbClr val="F4F1E8"/>
          </a:solidFill>
          <a:ln w="9525">
            <a:solidFill>
              <a:srgbClr val="DCD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79773" y="2694432"/>
            <a:ext cx="46538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0E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SOÁT &amp; ĐẦU RA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75212" y="3364992"/>
            <a:ext cx="1036320" cy="1036320"/>
          </a:xfrm>
          <a:prstGeom prst="hexagon">
            <a:avLst/>
          </a:prstGeom>
          <a:solidFill>
            <a:srgbClr val="C4A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09601" y="4498848"/>
            <a:ext cx="15675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 dirty="0">
                <a:solidFill>
                  <a:srgbClr val="0E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67" dirty="0"/>
          </a:p>
        </p:txBody>
      </p:sp>
      <p:sp>
        <p:nvSpPr>
          <p:cNvPr id="20" name="Text 17"/>
          <p:cNvSpPr/>
          <p:nvPr/>
        </p:nvSpPr>
        <p:spPr>
          <a:xfrm>
            <a:off x="609601" y="4791456"/>
            <a:ext cx="156754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3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Drive (cập nhật realtime)</a:t>
            </a:r>
            <a:endParaRPr lang="en-US" sz="1133" dirty="0"/>
          </a:p>
        </p:txBody>
      </p:sp>
      <p:sp>
        <p:nvSpPr>
          <p:cNvPr id="21" name="Shape 18"/>
          <p:cNvSpPr/>
          <p:nvPr/>
        </p:nvSpPr>
        <p:spPr>
          <a:xfrm>
            <a:off x="2442755" y="3364992"/>
            <a:ext cx="1036320" cy="1036320"/>
          </a:xfrm>
          <a:prstGeom prst="hexagon">
            <a:avLst/>
          </a:prstGeom>
          <a:solidFill>
            <a:srgbClr val="C4A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2177143" y="4498848"/>
            <a:ext cx="15675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 dirty="0">
                <a:solidFill>
                  <a:srgbClr val="0E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67" dirty="0"/>
          </a:p>
        </p:txBody>
      </p:sp>
      <p:sp>
        <p:nvSpPr>
          <p:cNvPr id="24" name="Text 20"/>
          <p:cNvSpPr/>
          <p:nvPr/>
        </p:nvSpPr>
        <p:spPr>
          <a:xfrm>
            <a:off x="2177143" y="4791456"/>
            <a:ext cx="156754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3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– sinh – kiểm trùng – gửi</a:t>
            </a:r>
            <a:endParaRPr lang="en-US" sz="1133" dirty="0"/>
          </a:p>
        </p:txBody>
      </p:sp>
      <p:sp>
        <p:nvSpPr>
          <p:cNvPr id="25" name="Shape 21"/>
          <p:cNvSpPr/>
          <p:nvPr/>
        </p:nvSpPr>
        <p:spPr>
          <a:xfrm>
            <a:off x="4010297" y="3364992"/>
            <a:ext cx="1036320" cy="1036320"/>
          </a:xfrm>
          <a:prstGeom prst="hexagon">
            <a:avLst/>
          </a:prstGeom>
          <a:solidFill>
            <a:srgbClr val="C4A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3744686" y="4498848"/>
            <a:ext cx="15675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 dirty="0">
                <a:solidFill>
                  <a:srgbClr val="0E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67" dirty="0"/>
          </a:p>
        </p:txBody>
      </p:sp>
      <p:sp>
        <p:nvSpPr>
          <p:cNvPr id="28" name="Text 23"/>
          <p:cNvSpPr/>
          <p:nvPr/>
        </p:nvSpPr>
        <p:spPr>
          <a:xfrm>
            <a:off x="3744686" y="4791456"/>
            <a:ext cx="156754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3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API, OCR, LLM, Telegram</a:t>
            </a:r>
            <a:endParaRPr lang="en-US" sz="1133" dirty="0"/>
          </a:p>
        </p:txBody>
      </p:sp>
      <p:sp>
        <p:nvSpPr>
          <p:cNvPr id="29" name="Shape 24"/>
          <p:cNvSpPr/>
          <p:nvPr/>
        </p:nvSpPr>
        <p:spPr>
          <a:xfrm>
            <a:off x="5577840" y="3364992"/>
            <a:ext cx="1036320" cy="1036320"/>
          </a:xfrm>
          <a:prstGeom prst="hexagon">
            <a:avLst/>
          </a:prstGeom>
          <a:solidFill>
            <a:srgbClr val="C4A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5312229" y="4498848"/>
            <a:ext cx="15675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 dirty="0">
                <a:solidFill>
                  <a:srgbClr val="0E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267" dirty="0"/>
          </a:p>
        </p:txBody>
      </p:sp>
      <p:sp>
        <p:nvSpPr>
          <p:cNvPr id="32" name="Text 26"/>
          <p:cNvSpPr/>
          <p:nvPr/>
        </p:nvSpPr>
        <p:spPr>
          <a:xfrm>
            <a:off x="5312229" y="4791456"/>
            <a:ext cx="156754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3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+ ngân hàng câu đã hỏi</a:t>
            </a:r>
            <a:endParaRPr lang="en-US" sz="1133" dirty="0"/>
          </a:p>
        </p:txBody>
      </p:sp>
      <p:sp>
        <p:nvSpPr>
          <p:cNvPr id="33" name="Shape 27"/>
          <p:cNvSpPr/>
          <p:nvPr/>
        </p:nvSpPr>
        <p:spPr>
          <a:xfrm>
            <a:off x="7145383" y="3364992"/>
            <a:ext cx="1036320" cy="1036320"/>
          </a:xfrm>
          <a:prstGeom prst="hexagon">
            <a:avLst/>
          </a:prstGeom>
          <a:solidFill>
            <a:srgbClr val="C4A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6879773" y="4498848"/>
            <a:ext cx="15675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 dirty="0">
                <a:solidFill>
                  <a:srgbClr val="0E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267" dirty="0"/>
          </a:p>
        </p:txBody>
      </p:sp>
      <p:sp>
        <p:nvSpPr>
          <p:cNvPr id="36" name="Text 29"/>
          <p:cNvSpPr/>
          <p:nvPr/>
        </p:nvSpPr>
        <p:spPr>
          <a:xfrm>
            <a:off x="6879773" y="4791456"/>
            <a:ext cx="156754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3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quiz theo khung MICRO</a:t>
            </a:r>
            <a:endParaRPr lang="en-US" sz="1133" dirty="0"/>
          </a:p>
        </p:txBody>
      </p:sp>
      <p:sp>
        <p:nvSpPr>
          <p:cNvPr id="37" name="Shape 30"/>
          <p:cNvSpPr/>
          <p:nvPr/>
        </p:nvSpPr>
        <p:spPr>
          <a:xfrm>
            <a:off x="8712925" y="3364992"/>
            <a:ext cx="1036320" cy="1036320"/>
          </a:xfrm>
          <a:prstGeom prst="hexagon">
            <a:avLst/>
          </a:prstGeom>
          <a:solidFill>
            <a:srgbClr val="C4A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1"/>
          <p:cNvSpPr/>
          <p:nvPr/>
        </p:nvSpPr>
        <p:spPr>
          <a:xfrm>
            <a:off x="8447315" y="4498848"/>
            <a:ext cx="15675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 dirty="0">
                <a:solidFill>
                  <a:srgbClr val="0E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1267" dirty="0"/>
          </a:p>
        </p:txBody>
      </p:sp>
      <p:sp>
        <p:nvSpPr>
          <p:cNvPr id="40" name="Text 32"/>
          <p:cNvSpPr/>
          <p:nvPr/>
        </p:nvSpPr>
        <p:spPr>
          <a:xfrm>
            <a:off x="8447315" y="4791456"/>
            <a:ext cx="156754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3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quiz trước khi gửi</a:t>
            </a:r>
            <a:endParaRPr lang="en-US" sz="1133" dirty="0"/>
          </a:p>
        </p:txBody>
      </p:sp>
      <p:sp>
        <p:nvSpPr>
          <p:cNvPr id="41" name="Shape 33"/>
          <p:cNvSpPr/>
          <p:nvPr/>
        </p:nvSpPr>
        <p:spPr>
          <a:xfrm>
            <a:off x="10280468" y="3364992"/>
            <a:ext cx="1036320" cy="1036320"/>
          </a:xfrm>
          <a:prstGeom prst="hexagon">
            <a:avLst/>
          </a:prstGeom>
          <a:solidFill>
            <a:srgbClr val="C4A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4"/>
          <p:cNvSpPr/>
          <p:nvPr/>
        </p:nvSpPr>
        <p:spPr>
          <a:xfrm>
            <a:off x="10014858" y="4498848"/>
            <a:ext cx="15675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 dirty="0">
                <a:solidFill>
                  <a:srgbClr val="0E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67" dirty="0"/>
          </a:p>
        </p:txBody>
      </p:sp>
      <p:sp>
        <p:nvSpPr>
          <p:cNvPr id="44" name="Text 35"/>
          <p:cNvSpPr/>
          <p:nvPr/>
        </p:nvSpPr>
        <p:spPr>
          <a:xfrm>
            <a:off x="10014858" y="4791456"/>
            <a:ext cx="156754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3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câu/ngày qua Telegram</a:t>
            </a:r>
            <a:endParaRPr lang="en-US" sz="1133" dirty="0"/>
          </a:p>
        </p:txBody>
      </p:sp>
      <p:sp>
        <p:nvSpPr>
          <p:cNvPr id="45" name="Text 36"/>
          <p:cNvSpPr/>
          <p:nvPr/>
        </p:nvSpPr>
        <p:spPr>
          <a:xfrm>
            <a:off x="609600" y="6443472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cuối khóa AI4A  ·  Daily Quiz Generation</a:t>
            </a:r>
            <a:endParaRPr lang="en-US" sz="1067" dirty="0"/>
          </a:p>
        </p:txBody>
      </p:sp>
      <p:sp>
        <p:nvSpPr>
          <p:cNvPr id="46" name="Text 37"/>
          <p:cNvSpPr/>
          <p:nvPr/>
        </p:nvSpPr>
        <p:spPr>
          <a:xfrm>
            <a:off x="10972800" y="6443472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67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67" dirty="0"/>
          </a:p>
        </p:txBody>
      </p:sp>
      <p:pic>
        <p:nvPicPr>
          <p:cNvPr id="47" name="Graphic 47" descr="Inpu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400" y="3657600"/>
            <a:ext cx="444500" cy="444500"/>
          </a:xfrm>
          <a:prstGeom prst="rect">
            <a:avLst/>
          </a:prstGeom>
        </p:spPr>
      </p:pic>
      <p:pic>
        <p:nvPicPr>
          <p:cNvPr id="48" name="Graphic 48" descr="Agen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0" y="3657600"/>
            <a:ext cx="444500" cy="444500"/>
          </a:xfrm>
          <a:prstGeom prst="rect">
            <a:avLst/>
          </a:prstGeom>
        </p:spPr>
      </p:pic>
      <p:pic>
        <p:nvPicPr>
          <p:cNvPr id="49" name="Graphic 49" descr="Tool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05300" y="3657600"/>
            <a:ext cx="444500" cy="444500"/>
          </a:xfrm>
          <a:prstGeom prst="rect">
            <a:avLst/>
          </a:prstGeom>
        </p:spPr>
      </p:pic>
      <p:pic>
        <p:nvPicPr>
          <p:cNvPr id="50" name="Graphic 50" descr="Knowledg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80100" y="3657600"/>
            <a:ext cx="444500" cy="444500"/>
          </a:xfrm>
          <a:prstGeom prst="rect">
            <a:avLst/>
          </a:prstGeom>
        </p:spPr>
      </p:pic>
      <p:pic>
        <p:nvPicPr>
          <p:cNvPr id="51" name="Graphic 51" descr="Skill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42200" y="3657600"/>
            <a:ext cx="444500" cy="444500"/>
          </a:xfrm>
          <a:prstGeom prst="rect">
            <a:avLst/>
          </a:prstGeom>
        </p:spPr>
      </p:pic>
      <p:pic>
        <p:nvPicPr>
          <p:cNvPr id="52" name="Graphic 52" descr="HITL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17000" y="3657600"/>
            <a:ext cx="444500" cy="444500"/>
          </a:xfrm>
          <a:prstGeom prst="rect">
            <a:avLst/>
          </a:prstGeom>
        </p:spPr>
      </p:pic>
      <p:pic>
        <p:nvPicPr>
          <p:cNvPr id="53" name="Graphic 53" descr="Outpu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79100" y="3657600"/>
            <a:ext cx="4445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806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90144"/>
            <a:ext cx="390144" cy="390144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4A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55904" y="536448"/>
            <a:ext cx="97536" cy="97536"/>
          </a:xfrm>
          <a:prstGeom prst="ellipse">
            <a:avLst/>
          </a:prstGeom>
          <a:solidFill>
            <a:srgbClr val="C4A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1664" y="341376"/>
            <a:ext cx="26822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kern="0" spc="267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AI4A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1664" y="585216"/>
            <a:ext cx="268224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 kern="0" spc="2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CUỐI KHÓA</a:t>
            </a:r>
            <a:endParaRPr lang="en-US" sz="933" dirty="0"/>
          </a:p>
        </p:txBody>
      </p:sp>
      <p:sp>
        <p:nvSpPr>
          <p:cNvPr id="6" name="Text 4"/>
          <p:cNvSpPr/>
          <p:nvPr/>
        </p:nvSpPr>
        <p:spPr>
          <a:xfrm>
            <a:off x="609600" y="950976"/>
            <a:ext cx="109728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kern="0" spc="267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609600" y="131673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33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cấp 3 tầng: Điều phối – Quản lý – Thực thi</a:t>
            </a:r>
            <a:endParaRPr lang="en-US" sz="3333" dirty="0"/>
          </a:p>
        </p:txBody>
      </p:sp>
      <p:sp>
        <p:nvSpPr>
          <p:cNvPr id="8" name="Text 6"/>
          <p:cNvSpPr/>
          <p:nvPr/>
        </p:nvSpPr>
        <p:spPr>
          <a:xfrm>
            <a:off x="609600" y="1987296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i="1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“Mỗi tầng một vai trò: điều phối chiến lược, quản lý nghiệp vụ, thực thi tác vụ.”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609600" y="2692400"/>
            <a:ext cx="3454400" cy="3149600"/>
          </a:xfrm>
          <a:prstGeom prst="rect">
            <a:avLst/>
          </a:prstGeom>
          <a:solidFill>
            <a:srgbClr val="1628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2908300"/>
            <a:ext cx="512064" cy="5120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12800" y="3517900"/>
            <a:ext cx="30480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ĐIỀU PHỐI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12800" y="4127500"/>
            <a:ext cx="304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267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Scheduler tự chạy 7h–12h–17h</a:t>
            </a:r>
            <a:endParaRPr lang="en-US" sz="1267" dirty="0"/>
          </a:p>
          <a:p>
            <a:pPr marL="457189" indent="-457189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267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Lên kế hoạch tạo bộ quiz trong ngày</a:t>
            </a:r>
            <a:endParaRPr lang="en-US" sz="1267" dirty="0"/>
          </a:p>
          <a:p>
            <a:pPr marL="457189" indent="-457189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267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việc cho các Agent bên dưới</a:t>
            </a:r>
            <a:endParaRPr lang="en-US" sz="1267" dirty="0"/>
          </a:p>
        </p:txBody>
      </p:sp>
      <p:sp>
        <p:nvSpPr>
          <p:cNvPr id="13" name="Shape 10"/>
          <p:cNvSpPr/>
          <p:nvPr/>
        </p:nvSpPr>
        <p:spPr>
          <a:xfrm>
            <a:off x="4368800" y="2692400"/>
            <a:ext cx="3454400" cy="3149600"/>
          </a:xfrm>
          <a:prstGeom prst="rect">
            <a:avLst/>
          </a:prstGeom>
          <a:solidFill>
            <a:srgbClr val="1628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908300"/>
            <a:ext cx="512064" cy="5120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2000" y="3517900"/>
            <a:ext cx="30480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QUẢN LÝ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572000" y="4127500"/>
            <a:ext cx="304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267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nội dung &amp; chất lượng câu hỏi</a:t>
            </a:r>
            <a:endParaRPr lang="en-US" sz="1267" dirty="0"/>
          </a:p>
          <a:p>
            <a:pPr marL="457189" indent="-457189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267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Gọi OCR/LLM, kiểm tra trùng lặp</a:t>
            </a:r>
            <a:endParaRPr lang="en-US" sz="1267" dirty="0"/>
          </a:p>
          <a:p>
            <a:pPr marL="457189" indent="-457189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267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bộ quy tắc CLEAR cho câu hỏi</a:t>
            </a:r>
            <a:endParaRPr lang="en-US" sz="1267" dirty="0"/>
          </a:p>
        </p:txBody>
      </p:sp>
      <p:sp>
        <p:nvSpPr>
          <p:cNvPr id="17" name="Shape 13"/>
          <p:cNvSpPr/>
          <p:nvPr/>
        </p:nvSpPr>
        <p:spPr>
          <a:xfrm>
            <a:off x="8128000" y="2692400"/>
            <a:ext cx="3454400" cy="3149600"/>
          </a:xfrm>
          <a:prstGeom prst="rect">
            <a:avLst/>
          </a:prstGeom>
          <a:solidFill>
            <a:srgbClr val="1628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1200" y="2908300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31200" y="3517900"/>
            <a:ext cx="30480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THỰC THI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331200" y="4127500"/>
            <a:ext cx="304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267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tài liệu Drive, sinh câu hỏi</a:t>
            </a:r>
            <a:endParaRPr lang="en-US" sz="1267" dirty="0"/>
          </a:p>
          <a:p>
            <a:pPr marL="457189" indent="-457189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267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dạng tin nhắn quiz</a:t>
            </a:r>
            <a:endParaRPr lang="en-US" sz="1267" dirty="0"/>
          </a:p>
          <a:p>
            <a:pPr marL="457189" indent="-457189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267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Telegram &amp; lưu lịch sử</a:t>
            </a:r>
            <a:endParaRPr lang="en-US" sz="1267" dirty="0"/>
          </a:p>
        </p:txBody>
      </p:sp>
      <p:sp>
        <p:nvSpPr>
          <p:cNvPr id="25" name="Text 19"/>
          <p:cNvSpPr/>
          <p:nvPr/>
        </p:nvSpPr>
        <p:spPr>
          <a:xfrm>
            <a:off x="609600" y="6443472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cuối khóa AI4A  ·  Daily Quiz Generation</a:t>
            </a:r>
            <a:endParaRPr lang="en-US" sz="1067" dirty="0"/>
          </a:p>
        </p:txBody>
      </p:sp>
      <p:sp>
        <p:nvSpPr>
          <p:cNvPr id="26" name="Text 20"/>
          <p:cNvSpPr/>
          <p:nvPr/>
        </p:nvSpPr>
        <p:spPr>
          <a:xfrm>
            <a:off x="10972800" y="6443472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67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67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9CC07E4-7357-440D-B16F-48B6D986A04E}"/>
              </a:ext>
            </a:extLst>
          </p:cNvPr>
          <p:cNvSpPr/>
          <p:nvPr/>
        </p:nvSpPr>
        <p:spPr>
          <a:xfrm>
            <a:off x="609600" y="5969000"/>
            <a:ext cx="3454400" cy="381000"/>
          </a:xfrm>
          <a:prstGeom prst="roundRect">
            <a:avLst/>
          </a:prstGeom>
          <a:solidFill>
            <a:srgbClr val="C4A35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 dirty="0">
                <a:solidFill>
                  <a:srgbClr val="0E1E3C"/>
                </a:solidFill>
                <a:latin typeface="Calibri"/>
                <a:ea typeface="Calibri"/>
                <a:cs typeface="Calibri"/>
              </a:rPr>
              <a:t>Operation Manager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E2D6F83-DD59-0B06-CD1A-71307C2A7BB1}"/>
              </a:ext>
            </a:extLst>
          </p:cNvPr>
          <p:cNvSpPr/>
          <p:nvPr/>
        </p:nvSpPr>
        <p:spPr>
          <a:xfrm>
            <a:off x="4368800" y="5969000"/>
            <a:ext cx="3454400" cy="381000"/>
          </a:xfrm>
          <a:prstGeom prst="roundRect">
            <a:avLst/>
          </a:prstGeom>
          <a:solidFill>
            <a:srgbClr val="C4A35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 dirty="0">
                <a:solidFill>
                  <a:srgbClr val="0E1E3C"/>
                </a:solidFill>
                <a:latin typeface="Calibri"/>
                <a:ea typeface="Calibri"/>
                <a:cs typeface="Calibri"/>
              </a:rPr>
              <a:t>Learning Manager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FF0A65E-8210-D8A9-1F14-CFD2ECDB2B88}"/>
              </a:ext>
            </a:extLst>
          </p:cNvPr>
          <p:cNvSpPr/>
          <p:nvPr/>
        </p:nvSpPr>
        <p:spPr>
          <a:xfrm>
            <a:off x="8128000" y="5969000"/>
            <a:ext cx="3454400" cy="381000"/>
          </a:xfrm>
          <a:prstGeom prst="roundRect">
            <a:avLst/>
          </a:prstGeom>
          <a:solidFill>
            <a:srgbClr val="C4A35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 dirty="0">
                <a:solidFill>
                  <a:srgbClr val="0E1E3C"/>
                </a:solidFill>
                <a:latin typeface="Calibri"/>
                <a:ea typeface="Calibri"/>
                <a:cs typeface="Calibri"/>
              </a:rPr>
              <a:t>AI Agent</a:t>
            </a:r>
          </a:p>
        </p:txBody>
      </p:sp>
    </p:spTree>
    <p:extLst>
      <p:ext uri="{BB962C8B-B14F-4D97-AF65-F5344CB8AC3E}">
        <p14:creationId xmlns:p14="http://schemas.microsoft.com/office/powerpoint/2010/main" val="3110830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90144"/>
            <a:ext cx="390144" cy="390144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0E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55904" y="536448"/>
            <a:ext cx="97536" cy="97536"/>
          </a:xfrm>
          <a:prstGeom prst="ellipse">
            <a:avLst/>
          </a:prstGeom>
          <a:solidFill>
            <a:srgbClr val="0E1E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1664" y="341376"/>
            <a:ext cx="26822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kern="0" spc="267" dirty="0">
                <a:solidFill>
                  <a:srgbClr val="0E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AI4A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1664" y="585216"/>
            <a:ext cx="268224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 kern="0" spc="200" dirty="0">
                <a:solidFill>
                  <a:srgbClr val="9C7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CUỐI KHÓA</a:t>
            </a:r>
            <a:endParaRPr lang="en-US" sz="933" dirty="0"/>
          </a:p>
        </p:txBody>
      </p:sp>
      <p:sp>
        <p:nvSpPr>
          <p:cNvPr id="6" name="Text 4"/>
          <p:cNvSpPr/>
          <p:nvPr/>
        </p:nvSpPr>
        <p:spPr>
          <a:xfrm>
            <a:off x="609600" y="950976"/>
            <a:ext cx="109728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kern="0" spc="267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AGENT &amp; WORKFLOW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609600" y="131673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33" b="1" dirty="0">
                <a:solidFill>
                  <a:srgbClr val="0E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&amp; Workflow theo tư duy OIPO</a:t>
            </a:r>
            <a:endParaRPr lang="en-US" sz="3333" dirty="0"/>
          </a:p>
        </p:txBody>
      </p:sp>
      <p:sp>
        <p:nvSpPr>
          <p:cNvPr id="8" name="Text 6"/>
          <p:cNvSpPr/>
          <p:nvPr/>
        </p:nvSpPr>
        <p:spPr>
          <a:xfrm>
            <a:off x="609600" y="1987296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workflow thiết kế theo 4 bước O–I–P–O; kỹ năng đóng gói theo khung MICRO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609600" y="2694432"/>
            <a:ext cx="2499360" cy="3718560"/>
          </a:xfrm>
          <a:prstGeom prst="rect">
            <a:avLst/>
          </a:prstGeom>
          <a:solidFill>
            <a:srgbClr val="0E1E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" y="2889504"/>
            <a:ext cx="438912" cy="4389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92480" y="3401568"/>
            <a:ext cx="213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— MỤC TIÊU (OBJECTIVE)</a:t>
            </a:r>
            <a:endParaRPr lang="en-US" sz="1467" dirty="0"/>
          </a:p>
        </p:txBody>
      </p:sp>
      <p:sp>
        <p:nvSpPr>
          <p:cNvPr id="12" name="Text 9"/>
          <p:cNvSpPr/>
          <p:nvPr/>
        </p:nvSpPr>
        <p:spPr>
          <a:xfrm>
            <a:off x="792480" y="3742944"/>
            <a:ext cx="213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133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kết quả cần đạt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2480" y="4218432"/>
            <a:ext cx="213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lnSpc>
                <a:spcPct val="115000"/>
              </a:lnSpc>
              <a:spcAft>
                <a:spcPts val="667"/>
              </a:spcAft>
              <a:buSzPct val="100000"/>
              <a:buChar char="–"/>
            </a:pPr>
            <a:r>
              <a:rPr lang="en-US" sz="12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bộ quiz mỗi ngày, gửi đúng giờ</a:t>
            </a:r>
            <a:endParaRPr lang="en-US" sz="1200" dirty="0"/>
          </a:p>
          <a:p>
            <a:pPr marL="457189" indent="-457189">
              <a:lnSpc>
                <a:spcPct val="115000"/>
              </a:lnSpc>
              <a:spcAft>
                <a:spcPts val="667"/>
              </a:spcAft>
              <a:buSzPct val="100000"/>
              <a:buChar char="–"/>
            </a:pPr>
            <a:r>
              <a:rPr lang="en-US" sz="12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trùng câu đã hỏi trước đó</a:t>
            </a:r>
            <a:endParaRPr lang="en-US" sz="1200" dirty="0"/>
          </a:p>
          <a:p>
            <a:pPr marL="457189" indent="-457189">
              <a:lnSpc>
                <a:spcPct val="115000"/>
              </a:lnSpc>
              <a:spcAft>
                <a:spcPts val="667"/>
              </a:spcAft>
              <a:buSzPct val="100000"/>
              <a:buChar char="–"/>
            </a:pPr>
            <a:r>
              <a:rPr lang="en-US" sz="12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Bám sát nội dung tài liệu Drive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28416" y="2694432"/>
            <a:ext cx="2499360" cy="3718560"/>
          </a:xfrm>
          <a:prstGeom prst="rect">
            <a:avLst/>
          </a:prstGeom>
          <a:solidFill>
            <a:srgbClr val="0E1E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296" y="2889504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11296" y="3401568"/>
            <a:ext cx="213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ĐẦU VÀO (INPUT)</a:t>
            </a:r>
            <a:endParaRPr lang="en-US" sz="1467" dirty="0"/>
          </a:p>
        </p:txBody>
      </p:sp>
      <p:sp>
        <p:nvSpPr>
          <p:cNvPr id="17" name="Text 13"/>
          <p:cNvSpPr/>
          <p:nvPr/>
        </p:nvSpPr>
        <p:spPr>
          <a:xfrm>
            <a:off x="3511296" y="3742944"/>
            <a:ext cx="213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133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&amp; ngữ cảnh đầu vào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511296" y="4218432"/>
            <a:ext cx="213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lnSpc>
                <a:spcPct val="115000"/>
              </a:lnSpc>
              <a:spcAft>
                <a:spcPts val="667"/>
              </a:spcAft>
              <a:buSzPct val="100000"/>
              <a:buChar char="–"/>
            </a:pPr>
            <a:r>
              <a:rPr lang="en-US" sz="12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PDF/ảnh từ Google Drive</a:t>
            </a:r>
            <a:endParaRPr lang="en-US" sz="1200" dirty="0"/>
          </a:p>
          <a:p>
            <a:pPr marL="457189" indent="-457189">
              <a:lnSpc>
                <a:spcPct val="115000"/>
              </a:lnSpc>
              <a:spcAft>
                <a:spcPts val="667"/>
              </a:spcAft>
              <a:buSzPct val="100000"/>
              <a:buChar char="–"/>
            </a:pPr>
            <a:r>
              <a:rPr lang="en-US" sz="12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 câu hỏi đã gửi</a:t>
            </a:r>
            <a:endParaRPr lang="en-US" sz="1200" dirty="0"/>
          </a:p>
          <a:p>
            <a:pPr marL="457189" indent="-457189">
              <a:lnSpc>
                <a:spcPct val="115000"/>
              </a:lnSpc>
              <a:spcAft>
                <a:spcPts val="667"/>
              </a:spcAft>
              <a:buSzPct val="100000"/>
              <a:buChar char="–"/>
            </a:pPr>
            <a:r>
              <a:rPr lang="en-US" sz="12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hình: số câu, chủ đề, giờ gửi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047232" y="2694432"/>
            <a:ext cx="2499360" cy="3718560"/>
          </a:xfrm>
          <a:prstGeom prst="rect">
            <a:avLst/>
          </a:prstGeom>
          <a:solidFill>
            <a:srgbClr val="0E1E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0112" y="2889504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30112" y="3401568"/>
            <a:ext cx="213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 TIẾN TRÌNH (PROCESS)</a:t>
            </a:r>
            <a:endParaRPr lang="en-US" sz="1467" dirty="0"/>
          </a:p>
        </p:txBody>
      </p:sp>
      <p:sp>
        <p:nvSpPr>
          <p:cNvPr id="22" name="Text 17"/>
          <p:cNvSpPr/>
          <p:nvPr/>
        </p:nvSpPr>
        <p:spPr>
          <a:xfrm>
            <a:off x="6230112" y="3742944"/>
            <a:ext cx="213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133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bước Agent xử lý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230112" y="4218432"/>
            <a:ext cx="213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lnSpc>
                <a:spcPct val="115000"/>
              </a:lnSpc>
              <a:spcAft>
                <a:spcPts val="667"/>
              </a:spcAft>
              <a:buSzPct val="100000"/>
              <a:buChar char="–"/>
            </a:pPr>
            <a:r>
              <a:rPr lang="en-US" sz="12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Trích xuất nội dung (OCR/parse)</a:t>
            </a:r>
            <a:endParaRPr lang="en-US" sz="1200" dirty="0"/>
          </a:p>
          <a:p>
            <a:pPr marL="457189" indent="-457189">
              <a:lnSpc>
                <a:spcPct val="115000"/>
              </a:lnSpc>
              <a:spcAft>
                <a:spcPts val="667"/>
              </a:spcAft>
              <a:buSzPct val="100000"/>
              <a:buChar char="–"/>
            </a:pPr>
            <a:r>
              <a:rPr lang="en-US" sz="12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câu hỏi rồi kiểm trùng</a:t>
            </a:r>
            <a:endParaRPr lang="en-US" sz="1200" dirty="0"/>
          </a:p>
          <a:p>
            <a:pPr marL="457189" indent="-457189">
              <a:lnSpc>
                <a:spcPct val="115000"/>
              </a:lnSpc>
              <a:spcAft>
                <a:spcPts val="667"/>
              </a:spcAft>
              <a:buSzPct val="100000"/>
              <a:buChar char="–"/>
            </a:pPr>
            <a:r>
              <a:rPr lang="en-US" sz="12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dạng tin &amp; chờ duyệt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766048" y="2694432"/>
            <a:ext cx="2499360" cy="3718560"/>
          </a:xfrm>
          <a:prstGeom prst="rect">
            <a:avLst/>
          </a:prstGeom>
          <a:solidFill>
            <a:srgbClr val="0E1E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8928" y="2889504"/>
            <a:ext cx="438912" cy="4389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948928" y="3401568"/>
            <a:ext cx="213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— ĐẦU RA (OUTPUT)</a:t>
            </a:r>
            <a:endParaRPr lang="en-US" sz="1467" dirty="0"/>
          </a:p>
        </p:txBody>
      </p:sp>
      <p:sp>
        <p:nvSpPr>
          <p:cNvPr id="27" name="Text 21"/>
          <p:cNvSpPr/>
          <p:nvPr/>
        </p:nvSpPr>
        <p:spPr>
          <a:xfrm>
            <a:off x="8948928" y="3742944"/>
            <a:ext cx="213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133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bàn giao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8948928" y="4218432"/>
            <a:ext cx="213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lnSpc>
                <a:spcPct val="115000"/>
              </a:lnSpc>
              <a:spcAft>
                <a:spcPts val="667"/>
              </a:spcAft>
              <a:buSzPct val="100000"/>
              <a:buChar char="–"/>
            </a:pPr>
            <a:r>
              <a:rPr lang="en-US" sz="12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 quiz gửi qua Telegram</a:t>
            </a:r>
            <a:endParaRPr lang="en-US" sz="1200" dirty="0"/>
          </a:p>
          <a:p>
            <a:pPr marL="457189" indent="-457189">
              <a:lnSpc>
                <a:spcPct val="115000"/>
              </a:lnSpc>
              <a:spcAft>
                <a:spcPts val="667"/>
              </a:spcAft>
              <a:buSzPct val="100000"/>
              <a:buChar char="–"/>
            </a:pPr>
            <a:r>
              <a:rPr lang="en-US" sz="12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 Human Checkpoint trước khi gửi</a:t>
            </a:r>
            <a:endParaRPr lang="en-US" sz="1200" dirty="0"/>
          </a:p>
          <a:p>
            <a:pPr marL="457189" indent="-457189">
              <a:lnSpc>
                <a:spcPct val="115000"/>
              </a:lnSpc>
              <a:spcAft>
                <a:spcPts val="667"/>
              </a:spcAft>
              <a:buSzPct val="100000"/>
              <a:buChar char="–"/>
            </a:pPr>
            <a:r>
              <a:rPr lang="en-US" sz="12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câu hỏi vào lịch sử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09600" y="6443472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cuối khóa AI4A  ·  Daily Quiz Generation</a:t>
            </a:r>
            <a:endParaRPr lang="en-US" sz="1067" dirty="0"/>
          </a:p>
        </p:txBody>
      </p:sp>
      <p:sp>
        <p:nvSpPr>
          <p:cNvPr id="30" name="Text 24"/>
          <p:cNvSpPr/>
          <p:nvPr/>
        </p:nvSpPr>
        <p:spPr>
          <a:xfrm>
            <a:off x="10972800" y="6443472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67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67" dirty="0"/>
          </a:p>
        </p:txBody>
      </p:sp>
    </p:spTree>
    <p:extLst>
      <p:ext uri="{BB962C8B-B14F-4D97-AF65-F5344CB8AC3E}">
        <p14:creationId xmlns:p14="http://schemas.microsoft.com/office/powerpoint/2010/main" val="4120428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90144"/>
            <a:ext cx="390144" cy="390144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0E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55904" y="536448"/>
            <a:ext cx="97536" cy="97536"/>
          </a:xfrm>
          <a:prstGeom prst="ellipse">
            <a:avLst/>
          </a:prstGeom>
          <a:solidFill>
            <a:srgbClr val="0E1E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1664" y="341376"/>
            <a:ext cx="26822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kern="0" spc="267" dirty="0">
                <a:solidFill>
                  <a:srgbClr val="0E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AI4A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1664" y="585216"/>
            <a:ext cx="268224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 kern="0" spc="200" dirty="0">
                <a:solidFill>
                  <a:srgbClr val="9C7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CUỐI KHÓA</a:t>
            </a:r>
            <a:endParaRPr lang="en-US" sz="933" dirty="0"/>
          </a:p>
        </p:txBody>
      </p:sp>
      <p:sp>
        <p:nvSpPr>
          <p:cNvPr id="6" name="Text 4"/>
          <p:cNvSpPr/>
          <p:nvPr/>
        </p:nvSpPr>
        <p:spPr>
          <a:xfrm>
            <a:off x="609600" y="950976"/>
            <a:ext cx="109728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kern="0" spc="267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THỨC &amp; QUY TẮC VẬN HÀNH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609600" y="131673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33" b="1" dirty="0">
                <a:solidFill>
                  <a:srgbClr val="0E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Bốn trụ cột vận hành an toàn &amp; ổn định</a:t>
            </a:r>
            <a:endParaRPr lang="en-US" sz="3333" dirty="0"/>
          </a:p>
        </p:txBody>
      </p:sp>
      <p:sp>
        <p:nvSpPr>
          <p:cNvPr id="8" name="Text 6"/>
          <p:cNvSpPr/>
          <p:nvPr/>
        </p:nvSpPr>
        <p:spPr>
          <a:xfrm>
            <a:off x="609600" y="1987296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Nạp tri thức, kiểm soát chất lượng dữ liệu và chốt chặn con người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609600" y="2694432"/>
            <a:ext cx="5242560" cy="1767840"/>
          </a:xfrm>
          <a:prstGeom prst="rect">
            <a:avLst/>
          </a:prstGeom>
          <a:solidFill>
            <a:srgbClr val="0E1E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" y="2913888"/>
            <a:ext cx="487680" cy="4876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24000" y="2889504"/>
            <a:ext cx="40843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733" dirty="0"/>
          </a:p>
        </p:txBody>
      </p:sp>
      <p:sp>
        <p:nvSpPr>
          <p:cNvPr id="12" name="Text 9"/>
          <p:cNvSpPr/>
          <p:nvPr/>
        </p:nvSpPr>
        <p:spPr>
          <a:xfrm>
            <a:off x="853440" y="3364992"/>
            <a:ext cx="47548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Nạp nội dung tài liệu đã trích xuất + ngân hàng câu hỏi đã gửi để Agent truy xuất và tránh trùng.</a:t>
            </a:r>
            <a:endParaRPr lang="en-US" sz="1333" dirty="0"/>
          </a:p>
        </p:txBody>
      </p:sp>
      <p:sp>
        <p:nvSpPr>
          <p:cNvPr id="13" name="Shape 10"/>
          <p:cNvSpPr/>
          <p:nvPr/>
        </p:nvSpPr>
        <p:spPr>
          <a:xfrm>
            <a:off x="6217920" y="2694432"/>
            <a:ext cx="5242560" cy="1767840"/>
          </a:xfrm>
          <a:prstGeom prst="rect">
            <a:avLst/>
          </a:prstGeom>
          <a:solidFill>
            <a:srgbClr val="0E1E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760" y="2913888"/>
            <a:ext cx="487680" cy="4876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32320" y="2889504"/>
            <a:ext cx="40843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quy tắc CLEAR</a:t>
            </a:r>
            <a:endParaRPr lang="en-US" sz="1733" dirty="0"/>
          </a:p>
        </p:txBody>
      </p:sp>
      <p:sp>
        <p:nvSpPr>
          <p:cNvPr id="16" name="Text 12"/>
          <p:cNvSpPr/>
          <p:nvPr/>
        </p:nvSpPr>
        <p:spPr>
          <a:xfrm>
            <a:off x="6461760" y="3364992"/>
            <a:ext cx="47548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quy tắc CLEAR chuẩn hóa câu hỏi: rõ ràng, một đáp án đúng, bám tài liệu, có giải thích.</a:t>
            </a:r>
            <a:endParaRPr lang="en-US" sz="1333" dirty="0"/>
          </a:p>
        </p:txBody>
      </p:sp>
      <p:sp>
        <p:nvSpPr>
          <p:cNvPr id="17" name="Shape 13"/>
          <p:cNvSpPr/>
          <p:nvPr/>
        </p:nvSpPr>
        <p:spPr>
          <a:xfrm>
            <a:off x="609600" y="4706112"/>
            <a:ext cx="5242560" cy="1767840"/>
          </a:xfrm>
          <a:prstGeom prst="rect">
            <a:avLst/>
          </a:prstGeom>
          <a:solidFill>
            <a:srgbClr val="0E1E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" y="4925568"/>
            <a:ext cx="487680" cy="4876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24000" y="4901184"/>
            <a:ext cx="40843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 Handoff</a:t>
            </a:r>
            <a:endParaRPr lang="en-US" sz="1733" dirty="0"/>
          </a:p>
        </p:txBody>
      </p:sp>
      <p:sp>
        <p:nvSpPr>
          <p:cNvPr id="20" name="Text 15"/>
          <p:cNvSpPr/>
          <p:nvPr/>
        </p:nvSpPr>
        <p:spPr>
          <a:xfrm>
            <a:off x="853440" y="5376672"/>
            <a:ext cx="47548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giao giữa Agent sinh quiz → kiểm trùng → gửi Telegram, đúng lúc và không thất lạc.</a:t>
            </a:r>
            <a:endParaRPr lang="en-US" sz="1333" dirty="0"/>
          </a:p>
        </p:txBody>
      </p:sp>
      <p:sp>
        <p:nvSpPr>
          <p:cNvPr id="21" name="Shape 16"/>
          <p:cNvSpPr/>
          <p:nvPr/>
        </p:nvSpPr>
        <p:spPr>
          <a:xfrm>
            <a:off x="6217920" y="4706112"/>
            <a:ext cx="5242560" cy="1767840"/>
          </a:xfrm>
          <a:prstGeom prst="rect">
            <a:avLst/>
          </a:prstGeom>
          <a:solidFill>
            <a:srgbClr val="0E1E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1760" y="4925568"/>
            <a:ext cx="487680" cy="4876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4901184"/>
            <a:ext cx="40843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Checkpoint</a:t>
            </a:r>
            <a:endParaRPr lang="en-US" sz="1733" dirty="0"/>
          </a:p>
        </p:txBody>
      </p:sp>
      <p:sp>
        <p:nvSpPr>
          <p:cNvPr id="24" name="Text 18"/>
          <p:cNvSpPr/>
          <p:nvPr/>
        </p:nvSpPr>
        <p:spPr>
          <a:xfrm>
            <a:off x="6461760" y="5376672"/>
            <a:ext cx="47548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người duyệt chất lượng &amp; độ chính xác bộ quiz trước khi gửi tới người học.</a:t>
            </a:r>
            <a:endParaRPr lang="en-US" sz="1333" dirty="0"/>
          </a:p>
        </p:txBody>
      </p:sp>
      <p:sp>
        <p:nvSpPr>
          <p:cNvPr id="25" name="Text 19"/>
          <p:cNvSpPr/>
          <p:nvPr/>
        </p:nvSpPr>
        <p:spPr>
          <a:xfrm>
            <a:off x="609600" y="6443472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cuối khóa AI4A  ·  Daily Quiz Generation</a:t>
            </a:r>
            <a:endParaRPr lang="en-US" sz="1067" dirty="0"/>
          </a:p>
        </p:txBody>
      </p:sp>
      <p:sp>
        <p:nvSpPr>
          <p:cNvPr id="26" name="Text 20"/>
          <p:cNvSpPr/>
          <p:nvPr/>
        </p:nvSpPr>
        <p:spPr>
          <a:xfrm>
            <a:off x="10972800" y="6443472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67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67" dirty="0"/>
          </a:p>
        </p:txBody>
      </p:sp>
    </p:spTree>
    <p:extLst>
      <p:ext uri="{BB962C8B-B14F-4D97-AF65-F5344CB8AC3E}">
        <p14:creationId xmlns:p14="http://schemas.microsoft.com/office/powerpoint/2010/main" val="744926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90144"/>
            <a:ext cx="390144" cy="390144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4A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55904" y="536448"/>
            <a:ext cx="97536" cy="97536"/>
          </a:xfrm>
          <a:prstGeom prst="ellipse">
            <a:avLst/>
          </a:prstGeom>
          <a:solidFill>
            <a:srgbClr val="C4A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1664" y="341376"/>
            <a:ext cx="26822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kern="0" spc="267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AI4A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1664" y="585216"/>
            <a:ext cx="268224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 kern="0" spc="2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CUỐI KHÓA</a:t>
            </a:r>
            <a:endParaRPr lang="en-US" sz="933" dirty="0"/>
          </a:p>
        </p:txBody>
      </p:sp>
      <p:sp>
        <p:nvSpPr>
          <p:cNvPr id="6" name="Text 4"/>
          <p:cNvSpPr/>
          <p:nvPr/>
        </p:nvSpPr>
        <p:spPr>
          <a:xfrm>
            <a:off x="609600" y="950976"/>
            <a:ext cx="109728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kern="0" spc="267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&amp; LIVE DEMO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609600" y="131673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33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Từ chẩn đoán hệ thống đến demo trước Hội đồng</a:t>
            </a:r>
            <a:endParaRPr lang="en-US" sz="3333" dirty="0"/>
          </a:p>
        </p:txBody>
      </p:sp>
      <p:sp>
        <p:nvSpPr>
          <p:cNvPr id="8" name="Text 6"/>
          <p:cNvSpPr/>
          <p:nvPr/>
        </p:nvSpPr>
        <p:spPr>
          <a:xfrm>
            <a:off x="609600" y="1987296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i="1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Bốn bước kiểm thử và trình diễn luồng chạy thông suốt trên Antigravity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1219200" y="3364992"/>
            <a:ext cx="9753600" cy="0"/>
          </a:xfrm>
          <a:prstGeom prst="line">
            <a:avLst/>
          </a:prstGeom>
          <a:noFill/>
          <a:ln w="25400">
            <a:solidFill>
              <a:srgbClr val="C4A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52016" y="3035808"/>
            <a:ext cx="658368" cy="658368"/>
          </a:xfrm>
          <a:prstGeom prst="ellipse">
            <a:avLst/>
          </a:prstGeom>
          <a:solidFill>
            <a:srgbClr val="C4A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652016" y="301142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0E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09600" y="3828288"/>
            <a:ext cx="2743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3" b="1" kern="0" spc="133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1</a:t>
            </a:r>
            <a:endParaRPr lang="en-US" sz="1133" dirty="0"/>
          </a:p>
        </p:txBody>
      </p:sp>
      <p:sp>
        <p:nvSpPr>
          <p:cNvPr id="13" name="Text 11"/>
          <p:cNvSpPr/>
          <p:nvPr/>
        </p:nvSpPr>
        <p:spPr>
          <a:xfrm>
            <a:off x="609600" y="4096512"/>
            <a:ext cx="27432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Chẩn đoán /audit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55904" y="4559808"/>
            <a:ext cx="2450592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/audit để kiểm tra kết nối Drive, Telegram, scheduler và phát hiện lỗi cấu hình.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95216" y="3035808"/>
            <a:ext cx="658368" cy="658368"/>
          </a:xfrm>
          <a:prstGeom prst="ellipse">
            <a:avLst/>
          </a:prstGeom>
          <a:solidFill>
            <a:srgbClr val="C4A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95216" y="301142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0E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352800" y="3828288"/>
            <a:ext cx="2743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3" b="1" kern="0" spc="133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2</a:t>
            </a:r>
            <a:endParaRPr lang="en-US" sz="1133" dirty="0"/>
          </a:p>
        </p:txBody>
      </p:sp>
      <p:sp>
        <p:nvSpPr>
          <p:cNvPr id="18" name="Text 16"/>
          <p:cNvSpPr/>
          <p:nvPr/>
        </p:nvSpPr>
        <p:spPr>
          <a:xfrm>
            <a:off x="3352800" y="4096512"/>
            <a:ext cx="27432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Xử lý backlog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499104" y="4559808"/>
            <a:ext cx="2450592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&amp; khắc phục sự cố sống còn: OCR lỗi, câu trùng, gửi Telegram thất bại.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38416" y="3035808"/>
            <a:ext cx="658368" cy="658368"/>
          </a:xfrm>
          <a:prstGeom prst="ellipse">
            <a:avLst/>
          </a:prstGeom>
          <a:solidFill>
            <a:srgbClr val="C4A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8416" y="301142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0E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096000" y="3828288"/>
            <a:ext cx="2743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3" b="1" kern="0" spc="133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3</a:t>
            </a:r>
            <a:endParaRPr lang="en-US" sz="1133" dirty="0"/>
          </a:p>
        </p:txBody>
      </p:sp>
      <p:sp>
        <p:nvSpPr>
          <p:cNvPr id="23" name="Text 21"/>
          <p:cNvSpPr/>
          <p:nvPr/>
        </p:nvSpPr>
        <p:spPr>
          <a:xfrm>
            <a:off x="6096000" y="4096512"/>
            <a:ext cx="27432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Chạy thử luồng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42304" y="4559808"/>
            <a:ext cx="2450592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đầu–cuối: đọc Drive → sinh quiz → kiểm trùng → duyệt → gửi Telegram.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881616" y="3035808"/>
            <a:ext cx="658368" cy="658368"/>
          </a:xfrm>
          <a:prstGeom prst="ellipse">
            <a:avLst/>
          </a:prstGeom>
          <a:solidFill>
            <a:srgbClr val="C4A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881616" y="301142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0E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839200" y="3828288"/>
            <a:ext cx="2743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3" b="1" kern="0" spc="133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4</a:t>
            </a:r>
            <a:endParaRPr lang="en-US" sz="1133" dirty="0"/>
          </a:p>
        </p:txBody>
      </p:sp>
      <p:sp>
        <p:nvSpPr>
          <p:cNvPr id="28" name="Text 26"/>
          <p:cNvSpPr/>
          <p:nvPr/>
        </p:nvSpPr>
        <p:spPr>
          <a:xfrm>
            <a:off x="8839200" y="4096512"/>
            <a:ext cx="27432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985504" y="4559808"/>
            <a:ext cx="2450592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bộ quiz từ tài liệu thật và gửi tin Telegram trực tiếp trước Hội đồng.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9600" y="6443472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cuối khóa AI4A  ·  Daily Quiz Generation</a:t>
            </a:r>
            <a:endParaRPr lang="en-US" sz="1067" dirty="0"/>
          </a:p>
        </p:txBody>
      </p:sp>
      <p:sp>
        <p:nvSpPr>
          <p:cNvPr id="31" name="Text 29"/>
          <p:cNvSpPr/>
          <p:nvPr/>
        </p:nvSpPr>
        <p:spPr>
          <a:xfrm>
            <a:off x="10972800" y="6443472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67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67" dirty="0"/>
          </a:p>
        </p:txBody>
      </p:sp>
    </p:spTree>
    <p:extLst>
      <p:ext uri="{BB962C8B-B14F-4D97-AF65-F5344CB8AC3E}">
        <p14:creationId xmlns:p14="http://schemas.microsoft.com/office/powerpoint/2010/main" val="296738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90144"/>
            <a:ext cx="390144" cy="390144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4A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55904" y="536448"/>
            <a:ext cx="97536" cy="97536"/>
          </a:xfrm>
          <a:prstGeom prst="ellipse">
            <a:avLst/>
          </a:prstGeom>
          <a:solidFill>
            <a:srgbClr val="C4A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1664" y="341376"/>
            <a:ext cx="26822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kern="0" spc="267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AI4A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1664" y="585216"/>
            <a:ext cx="268224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 kern="0" spc="2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CUỐI KHÓA</a:t>
            </a:r>
            <a:endParaRPr lang="en-US" sz="933" dirty="0"/>
          </a:p>
        </p:txBody>
      </p:sp>
      <p:sp>
        <p:nvSpPr>
          <p:cNvPr id="6" name="Shape 4"/>
          <p:cNvSpPr/>
          <p:nvPr/>
        </p:nvSpPr>
        <p:spPr>
          <a:xfrm>
            <a:off x="-1828800" y="3169920"/>
            <a:ext cx="5486400" cy="548640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C4A35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1828800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1097280" y="2804160"/>
            <a:ext cx="9997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 &amp; Hỏi đáp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3840480"/>
            <a:ext cx="914400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lnSpc>
                <a:spcPct val="130000"/>
              </a:lnSpc>
              <a:spcAft>
                <a:spcPts val="1067"/>
              </a:spcAft>
              <a:buSzPct val="100000"/>
              <a:buChar char="–"/>
            </a:pPr>
            <a:r>
              <a:rPr lang="en-US" sz="17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bao phủ đủ 5 hạng mục: SCOPE, thiết kế, Agent &amp; Workflow, tri thức &amp; quy tắc, kiểm thử.</a:t>
            </a:r>
            <a:endParaRPr lang="en-US" sz="1733" dirty="0"/>
          </a:p>
          <a:p>
            <a:pPr marL="457189" indent="-457189">
              <a:lnSpc>
                <a:spcPct val="130000"/>
              </a:lnSpc>
              <a:spcAft>
                <a:spcPts val="1067"/>
              </a:spcAft>
              <a:buSzPct val="100000"/>
              <a:buChar char="–"/>
            </a:pPr>
            <a:r>
              <a:rPr lang="en-US" sz="17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tự sinh quiz marketing không trùng lặp từ Google Drive và gửi qua Telegram hằng ngày.</a:t>
            </a:r>
            <a:endParaRPr lang="en-US" sz="1733" dirty="0"/>
          </a:p>
          <a:p>
            <a:pPr marL="457189" indent="-457189">
              <a:lnSpc>
                <a:spcPct val="130000"/>
              </a:lnSpc>
              <a:spcAft>
                <a:spcPts val="1067"/>
              </a:spcAft>
              <a:buSzPct val="100000"/>
              <a:buChar char="–"/>
            </a:pPr>
            <a:r>
              <a:rPr lang="en-US" sz="17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Sẵn sàng cho phần hỏi đáp và live demo trên Antigravity.</a:t>
            </a:r>
            <a:endParaRPr lang="en-US" sz="1733" dirty="0"/>
          </a:p>
        </p:txBody>
      </p:sp>
      <p:sp>
        <p:nvSpPr>
          <p:cNvPr id="10" name="Text 8"/>
          <p:cNvSpPr/>
          <p:nvPr/>
        </p:nvSpPr>
        <p:spPr>
          <a:xfrm>
            <a:off x="1097280" y="5913120"/>
            <a:ext cx="999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Đoàn Ngọc Anh Khoa  ·  Lớp AI4A  ·  hookeba@gmail.com</a:t>
            </a:r>
            <a:endParaRPr lang="en-US" sz="1467" dirty="0"/>
          </a:p>
        </p:txBody>
      </p:sp>
    </p:spTree>
    <p:extLst>
      <p:ext uri="{BB962C8B-B14F-4D97-AF65-F5344CB8AC3E}">
        <p14:creationId xmlns:p14="http://schemas.microsoft.com/office/powerpoint/2010/main" val="1667899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BB92E91-8F43-48A6-915F-5B95F529D6A7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83c806ed-4b8f-4a0f-831c-11e8d2e8790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1388</Words>
  <Application>Microsoft Office PowerPoint</Application>
  <PresentationFormat>Widescreen</PresentationFormat>
  <Paragraphs>194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anhkhoa doanngoc</dc:creator>
  <cp:lastModifiedBy>anhkhoa doanngoc</cp:lastModifiedBy>
  <cp:revision>2</cp:revision>
  <dcterms:created xsi:type="dcterms:W3CDTF">2026-06-29T02:38:59Z</dcterms:created>
  <dcterms:modified xsi:type="dcterms:W3CDTF">2026-06-29T06:27:16Z</dcterms:modified>
</cp:coreProperties>
</file>